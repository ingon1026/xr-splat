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algun Gothic"/>
              </a:rPr>
              <a:t>XR 실사급 공간 자산을 위한 SLAM × Gaussian Splatting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BCCEE"/>
                </a:solidFill>
                <a:latin typeface="Malgun Gothic"/>
              </a:rPr>
              <a:t>통합형의 한계와 decoupled 구조로의 전환 — 설계부터 런타임 실증까지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21B2E"/>
                </a:solidFill>
                <a:latin typeface="Malgun Gothic"/>
              </a:rPr>
              <a:t>“XR에서 사람이 공간에 들어가도 어색하지 않은 실사급 공간 자산”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보이는 화면 = 실사 같은 3D 공간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동시에 = 사용자 위치를 안정적으로 추정 (localization)</a:t>
            </a:r>
          </a:p>
          <a:p>
            <a:r>
              <a:rPr sz="1900" b="0">
                <a:solidFill>
                  <a:srgbClr val="2E86C1"/>
                </a:solidFill>
                <a:latin typeface="Malgun Gothic"/>
              </a:rPr>
              <a:t>•  핵심 질문: 이걸 한 모델로? 아니면 나눠서?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첫 시도 — 통합형 Gaussian-SLAM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21B2E"/>
                </a:solidFill>
                <a:latin typeface="Malgun Gothic"/>
              </a:rPr>
              <a:t>하나의 Gaussian 표현으로 tracking · mapping · rendering을 실시간 동시 수행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실험: SplaTAM · GS-SLAM · Photo-SLAM · LoopSplat 4종 직접 빌드·실행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기대: 한 시스템으로 위치추정 + 실사 렌더 다 해결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통합형의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21B2E"/>
                </a:solidFill>
                <a:latin typeface="Malgun Gothic"/>
              </a:rPr>
              <a:t>4종 실험 결과 — 세 가지가 동시에 미달</a:t>
            </a:r>
          </a:p>
          <a:p>
            <a:r>
              <a:rPr sz="1900" b="0">
                <a:solidFill>
                  <a:srgbClr val="C0392B"/>
                </a:solidFill>
                <a:latin typeface="Malgun Gothic"/>
              </a:rPr>
              <a:t>•  렌더 품질: 실사급 미달</a:t>
            </a:r>
          </a:p>
          <a:p>
            <a:r>
              <a:rPr sz="1900" b="0">
                <a:solidFill>
                  <a:srgbClr val="C0392B"/>
                </a:solidFill>
                <a:latin typeface="Malgun Gothic"/>
              </a:rPr>
              <a:t>•  트래킹: 성숙한 전용 SLAM보다 약함</a:t>
            </a:r>
          </a:p>
          <a:p>
            <a:r>
              <a:rPr sz="1900" b="0">
                <a:solidFill>
                  <a:srgbClr val="C0392B"/>
                </a:solidFill>
                <a:latin typeface="Malgun Gothic"/>
              </a:rPr>
              <a:t>•  속도: 무거움 (실시간 XR 부담)</a:t>
            </a:r>
          </a:p>
          <a:p>
            <a:r>
              <a:rPr sz="1900" b="0">
                <a:solidFill>
                  <a:srgbClr val="2E86C1"/>
                </a:solidFill>
                <a:latin typeface="Malgun Gothic"/>
              </a:rPr>
              <a:t>•  → ‘장점 통합’이 아니라 ‘단점 통합’ 위험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전환 결정 — decoupled (분리)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21B2E"/>
                </a:solidFill>
                <a:latin typeface="Malgun Gothic"/>
              </a:rPr>
              <a:t>역할을 쪼갠다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Localization → ORB-SLAM3 (성숙한 포즈·루프클로저·relocalization)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Rendering → gsplat (오프라인 무제약 실사 최적화)</a:t>
            </a:r>
          </a:p>
          <a:p>
            <a:r>
              <a:rPr sz="1900" b="0">
                <a:solidFill>
                  <a:srgbClr val="1E8E3E"/>
                </a:solidFill>
                <a:latin typeface="Malgun Gothic"/>
              </a:rPr>
              <a:t>•  핵심: Gaussian 맵을 SLAM 포즈 위에서 학습 → 동일 좌표계 → 정합 0단계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decoupled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21B2E"/>
                </a:solidFill>
                <a:latin typeface="Malgun Gothic"/>
              </a:rPr>
              <a:t>오프라인 자산 생성 + 런타임 위치추정 분리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[오프라인] RGB-D → ORB-SLAM3 포즈 → COLMAP → gsplat 학습(포즈고정+depth) → 경량 자산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[런타임] 새 프레임 → 저장된 맵에 relocalize → 그 pose로 Gaussian 렌더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8단계 독립 CLI, 표준 포맷(TUM/COLMAP)으로 통신 → 단계 교체 자유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M1 — 원리 검증 (공개 데이터)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21B2E"/>
                </a:solidFill>
                <a:latin typeface="Malgun Gothic"/>
              </a:rPr>
              <a:t>“SLAM 포즈로도 실사급 GS가 나오나?” — TUM fr1/desk, hold-out 16뷰</a:t>
            </a:r>
          </a:p>
          <a:p>
            <a:r>
              <a:rPr sz="1900" b="0">
                <a:solidFill>
                  <a:srgbClr val="1E8E3E"/>
                </a:solidFill>
                <a:latin typeface="Malgun Gothic"/>
              </a:rPr>
              <a:t>•  ORB 포즈 23.85  vs  COLMAP 포즈 23.98 PSNR  →  차이 0.13dB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ATE 둘 다 ~2cm</a:t>
            </a:r>
          </a:p>
          <a:p>
            <a:r>
              <a:rPr sz="1900" b="0">
                <a:solidFill>
                  <a:srgbClr val="2E86C1"/>
                </a:solidFill>
                <a:latin typeface="Malgun Gothic"/>
              </a:rPr>
              <a:t>•  ✅ decoupled 원리 성립 — 좋은 입력이면 SLAM 포즈로 COLMAP급 품질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M2 — 실제 D455 캡처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21B2E"/>
                </a:solidFill>
                <a:latin typeface="Malgun Gothic"/>
              </a:rPr>
              <a:t>자체 캡처 3개 — 캡처 기하가 품질을 좌우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room1: 궤적 0.43m (제자리회전, narrow)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room2: 궤적 0.65m (좁은 영역)</a:t>
            </a:r>
          </a:p>
          <a:p>
            <a:r>
              <a:rPr sz="1900" b="0">
                <a:solidFill>
                  <a:srgbClr val="1E8E3E"/>
                </a:solidFill>
                <a:latin typeface="Malgun Gothic"/>
              </a:rPr>
              <a:t>•  home: 궤적 28.78m (공간 횡단, baseline 충분)</a:t>
            </a:r>
          </a:p>
          <a:p>
            <a:r>
              <a:rPr sz="1900" b="0">
                <a:solidFill>
                  <a:srgbClr val="2E86C1"/>
                </a:solidFill>
                <a:latin typeface="Malgun Gothic"/>
              </a:rPr>
              <a:t>•  교훈: 걸으면서 시차(parallax) 확보가 실사 품질의 전제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난관 1 — 포즈 품질이 병목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21B2E"/>
                </a:solidFill>
                <a:latin typeface="Malgun Gothic"/>
              </a:rPr>
              <a:t>room1에서 발견 — 같은 캡처인데 포즈를 바꾸니 +5dB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ORB 포즈 vs full SfM 포즈: per-pose 10cm 차이</a:t>
            </a:r>
          </a:p>
          <a:p>
            <a:r>
              <a:rPr sz="1900" b="0">
                <a:solidFill>
                  <a:srgbClr val="1E8E3E"/>
                </a:solidFill>
                <a:latin typeface="Malgun Gothic"/>
              </a:rPr>
              <a:t>•  SfM 포즈로 학습 시 +5dB 선명</a:t>
            </a:r>
          </a:p>
          <a:p>
            <a:r>
              <a:rPr sz="1900" b="0">
                <a:solidFill>
                  <a:srgbClr val="2E86C1"/>
                </a:solidFill>
                <a:latin typeface="Malgun Gothic"/>
              </a:rPr>
              <a:t>•  → 실제 캡처에선 ORB 포즈 정확도가 실사 품질의 병목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난관 2 — 프레임 정합 함정 (핵심 발견)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21B2E"/>
                </a:solidFill>
                <a:latin typeface="Malgun Gothic"/>
              </a:rPr>
              <a:t>“PSNR 높다고 좋은 자산이 아니다”</a:t>
            </a:r>
          </a:p>
          <a:p>
            <a:r>
              <a:rPr sz="1900" b="0">
                <a:solidFill>
                  <a:srgbClr val="C0392B"/>
                </a:solidFill>
                <a:latin typeface="Malgun Gothic"/>
              </a:rPr>
              <a:t>•  home은 PSNR 24.34로 최고였지만 ORB 프레임에서 76° 틀어짐 → 런타임 위치추정 불가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해결: snap_scene_to_orb.py로 ORB 프레임에 강체 재정렬 → scale 1.0 / rot 0°</a:t>
            </a:r>
          </a:p>
          <a:p>
            <a:r>
              <a:rPr sz="1900" b="0">
                <a:solidFill>
                  <a:srgbClr val="1E8E3E"/>
                </a:solidFill>
                <a:latin typeface="Malgun Gothic"/>
              </a:rPr>
              <a:t>•  결과: home 23.82 PSNR + 프레임 유효 (−0.52dB로 좌표계 회복) — 재캡처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런타임 reloc → render 실증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轉→結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1B2E"/>
                </a:solidFill>
                <a:latin typeface="Malgun Gothic"/>
              </a:rPr>
              <a:t>decoupled의 존재 이유를 end-to-end로 증명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저장된 맵에 새 프레임 relocalize (COLMAP PnP)</a:t>
            </a:r>
          </a:p>
          <a:p>
            <a:r>
              <a:rPr sz="1800" b="0">
                <a:solidFill>
                  <a:srgbClr val="1A1A1A"/>
                </a:solidFill>
                <a:latin typeface="Malgun Gothic"/>
              </a:rPr>
              <a:t>•  그 pose로 Gaussian 렌더</a:t>
            </a:r>
          </a:p>
          <a:p>
            <a:r>
              <a:rPr sz="1800" b="0">
                <a:solidFill>
                  <a:srgbClr val="1E8E3E"/>
                </a:solidFill>
                <a:latin typeface="Malgun Gothic"/>
              </a:rPr>
              <a:t>•  reloc 성공 10 / 10 (100%)</a:t>
            </a:r>
          </a:p>
          <a:p>
            <a:r>
              <a:rPr sz="1800" b="0">
                <a:solidFill>
                  <a:srgbClr val="1E8E3E"/>
                </a:solidFill>
                <a:latin typeface="Malgun Gothic"/>
              </a:rPr>
              <a:t>•  좌표 앵커 오차 0.000cm</a:t>
            </a:r>
          </a:p>
          <a:p>
            <a:r>
              <a:rPr sz="1800" b="0">
                <a:solidFill>
                  <a:srgbClr val="2E86C1"/>
                </a:solidFill>
                <a:latin typeface="Malgun Gothic"/>
              </a:rPr>
              <a:t>•  실제 화면 = 가우시안 렌더 (TV·식물·소파·창 동일 위치)</a:t>
            </a:r>
          </a:p>
        </p:txBody>
      </p:sp>
      <p:pic>
        <p:nvPicPr>
          <p:cNvPr id="5" name="Picture 4" descr="reloc_demo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3120"/>
            <a:ext cx="548640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Malgun Gothic"/>
              </a:rPr>
              <a:t>좌: 실제  |  우: 가우시안(reloc pose)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결과 종합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21B2E"/>
                </a:solidFill>
                <a:latin typeface="Malgun Gothic"/>
              </a:rPr>
              <a:t>통합형 → decoupled, 처음부터 끝까지 데이터로 증명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통합형 4종: 한계 확인 (렌더·트래킹·속도)</a:t>
            </a:r>
          </a:p>
          <a:p>
            <a:r>
              <a:rPr sz="1900" b="0">
                <a:solidFill>
                  <a:srgbClr val="1E8E3E"/>
                </a:solidFill>
                <a:latin typeface="Malgun Gothic"/>
              </a:rPr>
              <a:t>•  decoupled 원리(M1): ✅ Δ0.13dB</a:t>
            </a:r>
          </a:p>
          <a:p>
            <a:r>
              <a:rPr sz="1900" b="0">
                <a:solidFill>
                  <a:srgbClr val="1E8E3E"/>
                </a:solidFill>
                <a:latin typeface="Malgun Gothic"/>
              </a:rPr>
              <a:t>•  실사 자산(M2 home): ✅ 23.82, 프레임 유효</a:t>
            </a:r>
          </a:p>
          <a:p>
            <a:r>
              <a:rPr sz="1900" b="0">
                <a:solidFill>
                  <a:srgbClr val="1E8E3E"/>
                </a:solidFill>
                <a:latin typeface="Malgun Gothic"/>
              </a:rPr>
              <a:t>•  런타임 reloc→render: ✅ 10/10, 앵커 0cm</a:t>
            </a:r>
          </a:p>
          <a:p>
            <a:r>
              <a:rPr sz="1900" b="0">
                <a:solidFill>
                  <a:srgbClr val="2E86C1"/>
                </a:solidFill>
                <a:latin typeface="Malgun Gothic"/>
              </a:rPr>
              <a:t>•  → ‘통합 모델보다 분리가 옳았다’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남은 한계 &amp; 다음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21B2E"/>
                </a:solidFill>
                <a:latin typeface="Malgun Gothic"/>
              </a:rPr>
              <a:t>시각 품질은 ‘알아보지만 soft’ — 실사급엔 한 칸 부족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원인: 대형 공간(home 28m) + GPU 12GB가 가우시안 밀도 제한 (메모리 천장)</a:t>
            </a:r>
          </a:p>
          <a:p>
            <a:r>
              <a:rPr sz="1900" b="0">
                <a:solidFill>
                  <a:srgbClr val="1A1A1A"/>
                </a:solidFill>
                <a:latin typeface="Malgun Gothic"/>
              </a:rPr>
              <a:t>•  다음 후보: scene 타일링(품질) / 잘 찍은 캡처 / XR 뷰어 통합</a:t>
            </a:r>
          </a:p>
          <a:p>
            <a:r>
              <a:rPr sz="1900" b="0">
                <a:solidFill>
                  <a:srgbClr val="1E8E3E"/>
                </a:solidFill>
                <a:latin typeface="Malgun Gothic"/>
              </a:rPr>
              <a:t>•  단, 연구 방향(분리가 맞다)은 결론남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B2E"/>
                </a:solidFill>
                <a:latin typeface="Malgun Gothic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28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E86C1"/>
                </a:solidFill>
                <a:latin typeface="Malgun Gothic"/>
              </a:rPr>
              <a:t>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2743200" cy="45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Malgun Gothic"/>
              </a:rPr>
              <a:t>통합형 Gaussian-SLAM은 이론은 매력적이나 렌더·트래킹·속도를 동시 만족 못 함</a:t>
            </a:r>
          </a:p>
          <a:p>
            <a:r>
              <a:rPr sz="2200" b="1">
                <a:solidFill>
                  <a:srgbClr val="121B2E"/>
                </a:solidFill>
                <a:latin typeface="Malgun Gothic"/>
              </a:rPr>
              <a:t>SLAM(위치) + Gaussian(렌더)을 분리하고 동일 좌표계로 연동하면,</a:t>
            </a:r>
          </a:p>
          <a:p>
            <a:r>
              <a:rPr sz="2200" b="1">
                <a:solidFill>
                  <a:srgbClr val="121B2E"/>
                </a:solidFill>
                <a:latin typeface="Malgun Gothic"/>
              </a:rPr>
              <a:t>안정적 localization 위에서 실사 공간을 렌더하는 구조가 실제로 작동한다</a:t>
            </a:r>
          </a:p>
          <a:p>
            <a:r>
              <a:rPr sz="1900" b="0">
                <a:solidFill>
                  <a:srgbClr val="1E8E3E"/>
                </a:solidFill>
                <a:latin typeface="Malgun Gothic"/>
              </a:rPr>
              <a:t>•  설계 → 자산 → 런타임까지 전 구간 실증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